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20640"/>
            <a:ext cx="12188952" cy="128016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248656"/>
            <a:ext cx="12188952" cy="1609344"/>
          </a:xfrm>
          <a:prstGeom prst="rect">
            <a:avLst/>
          </a:prstGeom>
          <a:solidFill>
            <a:srgbClr val="14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51760" y="804672"/>
            <a:ext cx="9144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WeatheryApp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84708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4A90E2"/>
                </a:solidFill>
              </a:rPr>
              <a:t>Swift iOS  --&gt;  Android Kotlin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2578608"/>
            <a:ext cx="9144000" cy="381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51760" y="27432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C8E8"/>
                </a:solidFill>
              </a:rPr>
              <a:t>Dorian Toth  &amp;  Marvin Aichinger   |   BB-G1   | 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280160"/>
            <a:ext cx="3566160" cy="50292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5331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iOS Source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783080"/>
            <a:ext cx="3566160" cy="4846320"/>
          </a:xfrm>
          <a:prstGeom prst="rect">
            <a:avLst/>
          </a:prstGeom>
          <a:solidFill>
            <a:srgbClr val="F4F6F9"/>
          </a:solidFill>
          <a:ln w="254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901952"/>
            <a:ext cx="3337560" cy="4599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800">
                <a:solidFill>
                  <a:srgbClr val="222233"/>
                </a:solidFill>
              </a:rPr>
              <a:t>  WeatheryApp -- Swift + SwiftUI</a:t>
            </a:r>
          </a:p>
          <a:p>
            <a:pPr>
              <a:spcBef>
                <a:spcPts val="1200"/>
              </a:spcBef>
            </a:pPr>
            <a:r>
              <a:rPr sz="1800">
                <a:solidFill>
                  <a:srgbClr val="222233"/>
                </a:solidFill>
              </a:rPr>
              <a:t>  CoreLocation  &amp;  WeatherKit</a:t>
            </a:r>
          </a:p>
          <a:p>
            <a:pPr>
              <a:spcBef>
                <a:spcPts val="1200"/>
              </a:spcBef>
            </a:pPr>
            <a:r>
              <a:rPr sz="1800">
                <a:solidFill>
                  <a:srgbClr val="222233"/>
                </a:solidFill>
              </a:rPr>
              <a:t>  Sidebar navigation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087368" y="1280160"/>
            <a:ext cx="3566160" cy="502920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24528" y="135331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AI Tools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87368" y="1783080"/>
            <a:ext cx="3566160" cy="4846320"/>
          </a:xfrm>
          <a:prstGeom prst="rect">
            <a:avLst/>
          </a:prstGeom>
          <a:solidFill>
            <a:srgbClr val="F4F6F9"/>
          </a:solidFill>
          <a:ln w="25400">
            <a:solidFill>
              <a:srgbClr val="E86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24528" y="1901952"/>
            <a:ext cx="3337560" cy="4599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800">
                <a:solidFill>
                  <a:srgbClr val="222233"/>
                </a:solidFill>
              </a:rPr>
              <a:t>  Claude Code  (main driver)</a:t>
            </a:r>
          </a:p>
          <a:p>
            <a:pPr>
              <a:spcBef>
                <a:spcPts val="1200"/>
              </a:spcBef>
            </a:pPr>
            <a:r>
              <a:rPr sz="1800">
                <a:solidFill>
                  <a:srgbClr val="222233"/>
                </a:solidFill>
              </a:rPr>
              <a:t>  GitHub Copilot  (in-editor)</a:t>
            </a:r>
          </a:p>
          <a:p>
            <a:pPr>
              <a:spcBef>
                <a:spcPts val="1200"/>
              </a:spcBef>
            </a:pPr>
            <a:r>
              <a:rPr sz="1800">
                <a:solidFill>
                  <a:srgbClr val="222233"/>
                </a:solidFill>
              </a:rPr>
              <a:t>  ChatGPT  (research)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54696" y="1280160"/>
            <a:ext cx="3566160" cy="50292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91856" y="135331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Android 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54696" y="1783080"/>
            <a:ext cx="3566160" cy="4846320"/>
          </a:xfrm>
          <a:prstGeom prst="rect">
            <a:avLst/>
          </a:prstGeom>
          <a:solidFill>
            <a:srgbClr val="F4F6F9"/>
          </a:solidFill>
          <a:ln w="25400">
            <a:solidFill>
              <a:srgbClr val="3DD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91856" y="1901952"/>
            <a:ext cx="3337560" cy="4599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800">
                <a:solidFill>
                  <a:srgbClr val="222233"/>
                </a:solidFill>
              </a:rPr>
              <a:t>  Kotlin + Jetpack Compose</a:t>
            </a:r>
          </a:p>
          <a:p>
            <a:pPr>
              <a:spcBef>
                <a:spcPts val="1200"/>
              </a:spcBef>
            </a:pPr>
            <a:r>
              <a:rPr sz="1800">
                <a:solidFill>
                  <a:srgbClr val="222233"/>
                </a:solidFill>
              </a:rPr>
              <a:t>  MVVM + StateFlow</a:t>
            </a:r>
          </a:p>
          <a:p>
            <a:pPr>
              <a:spcBef>
                <a:spcPts val="1200"/>
              </a:spcBef>
            </a:pPr>
            <a:r>
              <a:rPr sz="1800">
                <a:solidFill>
                  <a:srgbClr val="222233"/>
                </a:solidFill>
              </a:rPr>
              <a:t>  OpenWeatherMap 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Original iOS App  --  WeatheryApp (Swift)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170432"/>
            <a:ext cx="5394960" cy="54864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3557"/>
                </a:solidFill>
              </a:rPr>
              <a:t>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5029200" cy="381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sz="2200">
                <a:solidFill>
                  <a:srgbClr val="222233"/>
                </a:solidFill>
              </a:rPr>
              <a:t>  Current weather via GPS</a:t>
            </a:r>
          </a:p>
          <a:p>
            <a:pPr>
              <a:spcBef>
                <a:spcPts val="1800"/>
              </a:spcBef>
            </a:pPr>
            <a:r>
              <a:rPr sz="2200">
                <a:solidFill>
                  <a:srgbClr val="222233"/>
                </a:solidFill>
              </a:rPr>
              <a:t>  Hourly &amp; 5-day forecast</a:t>
            </a:r>
          </a:p>
          <a:p>
            <a:pPr>
              <a:spcBef>
                <a:spcPts val="1800"/>
              </a:spcBef>
            </a:pPr>
            <a:r>
              <a:rPr sz="2200">
                <a:solidFill>
                  <a:srgbClr val="222233"/>
                </a:solidFill>
              </a:rPr>
              <a:t>  Saved locations sidebar</a:t>
            </a:r>
          </a:p>
          <a:p>
            <a:pPr>
              <a:spcBef>
                <a:spcPts val="1800"/>
              </a:spcBef>
            </a:pPr>
            <a:r>
              <a:rPr sz="2200">
                <a:solidFill>
                  <a:srgbClr val="222233"/>
                </a:solidFill>
              </a:rPr>
              <a:t>  City search  +  oC / oF toggle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897880" y="1170432"/>
            <a:ext cx="5989320" cy="5486400"/>
          </a:xfrm>
          <a:prstGeom prst="rect">
            <a:avLst/>
          </a:prstGeom>
          <a:solidFill>
            <a:srgbClr val="E8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80760" y="1298448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7AFF"/>
                </a:solidFill>
              </a:rPr>
              <a:t>Tech Stack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783080"/>
            <a:ext cx="5486400" cy="381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80760" y="192024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sz="2200">
                <a:solidFill>
                  <a:srgbClr val="222233"/>
                </a:solidFill>
              </a:rPr>
              <a:t>  Swift 5  +  SwiftUI</a:t>
            </a:r>
          </a:p>
          <a:p>
            <a:pPr>
              <a:spcBef>
                <a:spcPts val="1800"/>
              </a:spcBef>
            </a:pPr>
            <a:r>
              <a:rPr sz="2200">
                <a:solidFill>
                  <a:srgbClr val="222233"/>
                </a:solidFill>
              </a:rPr>
              <a:t>  URLSession  +  CoreLocation</a:t>
            </a:r>
          </a:p>
          <a:p>
            <a:pPr>
              <a:spcBef>
                <a:spcPts val="1800"/>
              </a:spcBef>
            </a:pPr>
            <a:r>
              <a:rPr sz="2200">
                <a:solidFill>
                  <a:srgbClr val="222233"/>
                </a:solidFill>
              </a:rPr>
              <a:t>  @State / @StateObject / @ObservedObject</a:t>
            </a:r>
          </a:p>
          <a:p>
            <a:pPr>
              <a:spcBef>
                <a:spcPts val="1800"/>
              </a:spcBef>
            </a:pPr>
            <a:r>
              <a:rPr sz="2200">
                <a:solidFill>
                  <a:srgbClr val="222233"/>
                </a:solidFill>
              </a:rPr>
              <a:t>  UserDefaults  +  async/await</a:t>
            </a:r>
          </a:p>
        </p:txBody>
      </p:sp>
      <p:pic>
        <p:nvPicPr>
          <p:cNvPr id="12" name="Picture 11" descr="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1170432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iOS App -- Screenshots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DE38153-B0DC-6F24-C0FE-743E9E003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6732" y="1298448"/>
            <a:ext cx="2390342" cy="518651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0C87A805-9B9F-EE10-E42B-1A3B881B2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1750" y="1298448"/>
            <a:ext cx="2390343" cy="518651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AI-Assisted Migration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1810512" y="2990088"/>
            <a:ext cx="338328" cy="14630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" y="1417320"/>
            <a:ext cx="1719072" cy="3291840"/>
          </a:xfrm>
          <a:prstGeom prst="rect">
            <a:avLst/>
          </a:prstGeom>
          <a:solidFill>
            <a:srgbClr val="D6E8F7"/>
          </a:solidFill>
          <a:ln w="3175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563624"/>
            <a:ext cx="585216" cy="585216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563624"/>
            <a:ext cx="58521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" y="2295144"/>
            <a:ext cx="17190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C3557"/>
                </a:solidFill>
              </a:rPr>
              <a:t>Analyse
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" y="3154680"/>
            <a:ext cx="157276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22233"/>
                </a:solidFill>
              </a:rPr>
              <a:t>Read Swift files
map structure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67912" y="2990088"/>
            <a:ext cx="338328" cy="14630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148840" y="1417320"/>
            <a:ext cx="1719072" cy="3291840"/>
          </a:xfrm>
          <a:prstGeom prst="rect">
            <a:avLst/>
          </a:prstGeom>
          <a:solidFill>
            <a:srgbClr val="D6E8F7"/>
          </a:solidFill>
          <a:ln w="3175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15768" y="1563624"/>
            <a:ext cx="585216" cy="585216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15768" y="1563624"/>
            <a:ext cx="58521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2295144"/>
            <a:ext cx="17190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C3557"/>
                </a:solidFill>
              </a:rPr>
              <a:t>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1992" y="3154680"/>
            <a:ext cx="157276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22233"/>
                </a:solidFill>
              </a:rPr>
              <a:t>Map Swift to Kotlin
spot gaps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25312" y="2990088"/>
            <a:ext cx="338328" cy="14630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06240" y="1417320"/>
            <a:ext cx="1719072" cy="3291840"/>
          </a:xfrm>
          <a:prstGeom prst="rect">
            <a:avLst/>
          </a:prstGeom>
          <a:solidFill>
            <a:srgbClr val="D6E8F7"/>
          </a:solidFill>
          <a:ln w="3175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73168" y="1563624"/>
            <a:ext cx="585216" cy="585216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73168" y="1563624"/>
            <a:ext cx="58521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2295144"/>
            <a:ext cx="17190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C3557"/>
                </a:solidFill>
              </a:rPr>
              <a:t>Data
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9392" y="3154680"/>
            <a:ext cx="157276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22233"/>
                </a:solidFill>
              </a:rPr>
              <a:t>Models + Retrofit
WeatherKit --&gt; OWM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82712" y="2990088"/>
            <a:ext cx="338328" cy="14630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63640" y="1417320"/>
            <a:ext cx="1719072" cy="3291840"/>
          </a:xfrm>
          <a:prstGeom prst="rect">
            <a:avLst/>
          </a:prstGeom>
          <a:solidFill>
            <a:srgbClr val="D6E8F7"/>
          </a:solidFill>
          <a:ln w="3175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30568" y="1563624"/>
            <a:ext cx="585216" cy="585216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30568" y="1563624"/>
            <a:ext cx="58521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295144"/>
            <a:ext cx="17190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C3557"/>
                </a:solidFill>
              </a:rPr>
              <a:t>UI
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3154680"/>
            <a:ext cx="157276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22233"/>
                </a:solidFill>
              </a:rPr>
              <a:t>SwiftUI --&gt; Compose
Sidebar --&gt; Sheet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40112" y="2990088"/>
            <a:ext cx="338328" cy="14630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321040" y="1417320"/>
            <a:ext cx="1719072" cy="3291840"/>
          </a:xfrm>
          <a:prstGeom prst="rect">
            <a:avLst/>
          </a:prstGeom>
          <a:solidFill>
            <a:srgbClr val="FFF3E0"/>
          </a:solidFill>
          <a:ln w="31750">
            <a:solidFill>
              <a:srgbClr val="E86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887968" y="1563624"/>
            <a:ext cx="585216" cy="585216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87968" y="1563624"/>
            <a:ext cx="58521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2295144"/>
            <a:ext cx="17190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C3557"/>
                </a:solidFill>
              </a:rPr>
              <a:t>Human
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3154680"/>
            <a:ext cx="157276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22233"/>
                </a:solidFill>
              </a:rPr>
              <a:t>Validate &amp; test
on emulator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378440" y="1417320"/>
            <a:ext cx="1719072" cy="3291840"/>
          </a:xfrm>
          <a:prstGeom prst="rect">
            <a:avLst/>
          </a:prstGeom>
          <a:solidFill>
            <a:srgbClr val="D6E8F7"/>
          </a:solidFill>
          <a:ln w="3175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0945368" y="1563624"/>
            <a:ext cx="585216" cy="585216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945368" y="1563624"/>
            <a:ext cx="58521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78440" y="2295144"/>
            <a:ext cx="17190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C3557"/>
                </a:solidFill>
              </a:rPr>
              <a:t>Iterate
&amp; Fix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51592" y="3154680"/>
            <a:ext cx="157276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22233"/>
                </a:solidFill>
              </a:rPr>
              <a:t>Re-prompt Claude
until it works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Created Android App  --  WeatheryApp (Kotlin)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170432"/>
            <a:ext cx="5394960" cy="54864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3557"/>
                </a:solidFill>
              </a:rPr>
              <a:t>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5029200" cy="381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sz="2200">
                <a:solidFill>
                  <a:srgbClr val="222233"/>
                </a:solidFill>
              </a:rPr>
              <a:t>  Current weather via GPS</a:t>
            </a:r>
          </a:p>
          <a:p>
            <a:pPr>
              <a:spcBef>
                <a:spcPts val="1800"/>
              </a:spcBef>
            </a:pPr>
            <a:r>
              <a:rPr sz="2200">
                <a:solidFill>
                  <a:srgbClr val="222233"/>
                </a:solidFill>
              </a:rPr>
              <a:t>  Hourly &amp; 5-day forecast with icons</a:t>
            </a:r>
          </a:p>
          <a:p>
            <a:pPr>
              <a:spcBef>
                <a:spcPts val="1800"/>
              </a:spcBef>
            </a:pPr>
            <a:r>
              <a:rPr sz="2200">
                <a:solidFill>
                  <a:srgbClr val="222233"/>
                </a:solidFill>
              </a:rPr>
              <a:t>  City search  +  oC / oF toggle</a:t>
            </a:r>
          </a:p>
          <a:p>
            <a:pPr>
              <a:spcBef>
                <a:spcPts val="1800"/>
              </a:spcBef>
            </a:pPr>
            <a:r>
              <a:rPr sz="2200">
                <a:solidFill>
                  <a:srgbClr val="222233"/>
                </a:solidFill>
              </a:rPr>
              <a:t>  Material 3  --  light &amp; dark theme</a:t>
            </a:r>
          </a:p>
        </p:txBody>
      </p:sp>
      <p:sp>
        <p:nvSpPr>
          <p:cNvPr id="8" name="Rectangle 7"/>
          <p:cNvSpPr/>
          <p:nvPr/>
        </p:nvSpPr>
        <p:spPr>
          <a:xfrm>
            <a:off x="5897880" y="1170432"/>
            <a:ext cx="5989320" cy="548640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80760" y="1298448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DDC84"/>
                </a:solidFill>
              </a:rPr>
              <a:t>Tech Stack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783080"/>
            <a:ext cx="5486400" cy="381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80760" y="192024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sz="2200">
                <a:solidFill>
                  <a:srgbClr val="222233"/>
                </a:solidFill>
              </a:rPr>
              <a:t>  Kotlin  +  Jetpack Compose  +  Material 3</a:t>
            </a:r>
          </a:p>
          <a:p>
            <a:pPr>
              <a:spcBef>
                <a:spcPts val="1800"/>
              </a:spcBef>
            </a:pPr>
            <a:r>
              <a:rPr sz="2200">
                <a:solidFill>
                  <a:srgbClr val="222233"/>
                </a:solidFill>
              </a:rPr>
              <a:t>  Retrofit 2  +  FusedLocationProvider</a:t>
            </a:r>
          </a:p>
          <a:p>
            <a:pPr>
              <a:spcBef>
                <a:spcPts val="1800"/>
              </a:spcBef>
            </a:pPr>
            <a:r>
              <a:rPr sz="2200">
                <a:solidFill>
                  <a:srgbClr val="222233"/>
                </a:solidFill>
              </a:rPr>
              <a:t>  ViewModel  +  StateFlow  +  DataStore</a:t>
            </a:r>
          </a:p>
          <a:p>
            <a:pPr>
              <a:spcBef>
                <a:spcPts val="1800"/>
              </a:spcBef>
            </a:pPr>
            <a:r>
              <a:rPr sz="2200">
                <a:solidFill>
                  <a:srgbClr val="222233"/>
                </a:solidFill>
              </a:rPr>
              <a:t>  Kotlin Coroutines  (suspend fun)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Android App -- Screenshots</a:t>
            </a:r>
          </a:p>
        </p:txBody>
      </p:sp>
      <p:pic>
        <p:nvPicPr>
          <p:cNvPr id="33" name="Grafik 32">
            <a:extLst>
              <a:ext uri="{FF2B5EF4-FFF2-40B4-BE49-F238E27FC236}">
                <a16:creationId xmlns:a16="http://schemas.microsoft.com/office/drawing/2014/main" id="{F3F110DB-814B-12DC-4402-225E2CF98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3302" y="1298447"/>
            <a:ext cx="2351299" cy="528011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FF0BCD8E-E568-3663-E4D5-B60C8C13C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490" y="1298448"/>
            <a:ext cx="2351299" cy="528011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Feature Comparison: iOS vs Android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15568"/>
            <a:ext cx="3291840" cy="50292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207008"/>
            <a:ext cx="3145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11880" y="1115568"/>
            <a:ext cx="3657600" cy="50292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21608" y="1207008"/>
            <a:ext cx="35112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iOS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115568"/>
            <a:ext cx="4096512" cy="50292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24928" y="1207008"/>
            <a:ext cx="3950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Android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18488"/>
            <a:ext cx="32918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1709928"/>
            <a:ext cx="3145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2233"/>
                </a:solidFill>
              </a:rPr>
              <a:t>Weather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1880" y="1618488"/>
            <a:ext cx="3657600" cy="50292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21608" y="1709928"/>
            <a:ext cx="35112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2233"/>
                </a:solidFill>
              </a:rPr>
              <a:t>WeatherKit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618488"/>
            <a:ext cx="4096512" cy="502920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24928" y="1709928"/>
            <a:ext cx="3950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2233"/>
                </a:solidFill>
              </a:rPr>
              <a:t>OpenWeatherMap 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121408"/>
            <a:ext cx="3291840" cy="5029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048" y="2212848"/>
            <a:ext cx="3145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2233"/>
                </a:solidFill>
              </a:rPr>
              <a:t>GPS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11880" y="2121408"/>
            <a:ext cx="3657600" cy="50292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21608" y="2212848"/>
            <a:ext cx="35112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2233"/>
                </a:solidFill>
              </a:rPr>
              <a:t>CoreLocation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2121408"/>
            <a:ext cx="4096512" cy="502920"/>
          </a:xfrm>
          <a:prstGeom prst="rect">
            <a:avLst/>
          </a:prstGeom>
          <a:solidFill>
            <a:srgbClr val="E6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24928" y="2212848"/>
            <a:ext cx="3950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2233"/>
                </a:solidFill>
              </a:rPr>
              <a:t>FusedLocationProvider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624328"/>
            <a:ext cx="32918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4048" y="2715768"/>
            <a:ext cx="3145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2233"/>
                </a:solidFill>
              </a:rPr>
              <a:t>Hourly forecast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11880" y="2624328"/>
            <a:ext cx="3657600" cy="50292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21608" y="2715768"/>
            <a:ext cx="35112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2233"/>
                </a:solidFill>
              </a:rPr>
              <a:t>Horizontal scroll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2624328"/>
            <a:ext cx="4096512" cy="502920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24928" y="2715768"/>
            <a:ext cx="3950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2233"/>
                </a:solidFill>
              </a:rPr>
              <a:t>LazyRow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127248"/>
            <a:ext cx="3291840" cy="5029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84048" y="3218688"/>
            <a:ext cx="3145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2233"/>
                </a:solidFill>
              </a:rPr>
              <a:t>5-day forecast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11880" y="3127248"/>
            <a:ext cx="3657600" cy="50292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721608" y="3218688"/>
            <a:ext cx="35112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2233"/>
                </a:solidFill>
              </a:rPr>
              <a:t>List view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3127248"/>
            <a:ext cx="4096512" cy="502920"/>
          </a:xfrm>
          <a:prstGeom prst="rect">
            <a:avLst/>
          </a:prstGeom>
          <a:solidFill>
            <a:srgbClr val="E6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24928" y="3218688"/>
            <a:ext cx="3950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2233"/>
                </a:solidFill>
              </a:rPr>
              <a:t>Card list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630168"/>
            <a:ext cx="32918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84048" y="3721608"/>
            <a:ext cx="3145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2233"/>
                </a:solidFill>
              </a:rPr>
              <a:t>City search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11880" y="3630168"/>
            <a:ext cx="3657600" cy="50292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721608" y="3721608"/>
            <a:ext cx="35112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2233"/>
                </a:solidFill>
              </a:rPr>
              <a:t>AddLocationView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3630168"/>
            <a:ext cx="4096512" cy="502920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24928" y="3721608"/>
            <a:ext cx="3950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2233"/>
                </a:solidFill>
              </a:rPr>
              <a:t>AlertDialog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133088"/>
            <a:ext cx="3291840" cy="5029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4048" y="4224528"/>
            <a:ext cx="3145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2233"/>
                </a:solidFill>
              </a:rPr>
              <a:t>Saved locations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11880" y="4133088"/>
            <a:ext cx="3657600" cy="50292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721608" y="4224528"/>
            <a:ext cx="35112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2233"/>
                </a:solidFill>
              </a:rPr>
              <a:t>Left sidebar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0" y="4133088"/>
            <a:ext cx="4096512" cy="502920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424928" y="4224528"/>
            <a:ext cx="3950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2233"/>
                </a:solidFill>
              </a:rPr>
              <a:t>Not ported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636008"/>
            <a:ext cx="32918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84048" y="4727448"/>
            <a:ext cx="3145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2233"/>
                </a:solidFill>
              </a:rPr>
              <a:t>Settings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11880" y="4636008"/>
            <a:ext cx="3657600" cy="50292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721608" y="4727448"/>
            <a:ext cx="35112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2233"/>
                </a:solidFill>
              </a:rPr>
              <a:t>Right sidebar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0" y="4636008"/>
            <a:ext cx="4096512" cy="502920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424928" y="4727448"/>
            <a:ext cx="3950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2233"/>
                </a:solidFill>
              </a:rPr>
              <a:t>ModalBottomSheet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5138928"/>
            <a:ext cx="3291840" cy="5029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84048" y="5230368"/>
            <a:ext cx="3145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2233"/>
                </a:solidFill>
              </a:rPr>
              <a:t>Theme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11880" y="5138928"/>
            <a:ext cx="3657600" cy="50292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721608" y="5230368"/>
            <a:ext cx="35112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2233"/>
                </a:solidFill>
              </a:rPr>
              <a:t>Manual toggle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15200" y="5138928"/>
            <a:ext cx="4096512" cy="502920"/>
          </a:xfrm>
          <a:prstGeom prst="rect">
            <a:avLst/>
          </a:prstGeom>
          <a:solidFill>
            <a:srgbClr val="E6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424928" y="5230368"/>
            <a:ext cx="3950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2233"/>
                </a:solidFill>
              </a:rPr>
              <a:t>System Dynamic Color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5641848"/>
            <a:ext cx="32918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84048" y="5733288"/>
            <a:ext cx="3145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2233"/>
                </a:solidFill>
              </a:rPr>
              <a:t>Preferences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11880" y="5641848"/>
            <a:ext cx="3657600" cy="50292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721608" y="5733288"/>
            <a:ext cx="35112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2233"/>
                </a:solidFill>
              </a:rPr>
              <a:t>UserDefaults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5200" y="5641848"/>
            <a:ext cx="4096512" cy="502920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424928" y="5733288"/>
            <a:ext cx="3950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2233"/>
                </a:solidFill>
              </a:rPr>
              <a:t>DataStore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Working with AI -- Our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170432"/>
            <a:ext cx="5486400" cy="548640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170432"/>
            <a:ext cx="5486400" cy="530352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5488" y="120700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What Worked Well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810512"/>
            <a:ext cx="532180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</a:pPr>
            <a:r>
              <a:rPr sz="2000">
                <a:solidFill>
                  <a:srgbClr val="222233"/>
                </a:solidFill>
              </a:rPr>
              <a:t>  Swift to Kotlin translation: perfect first attempt</a:t>
            </a:r>
          </a:p>
          <a:p>
            <a:pPr>
              <a:spcBef>
                <a:spcPts val="2000"/>
              </a:spcBef>
            </a:pPr>
            <a:r>
              <a:rPr sz="2000">
                <a:solidFill>
                  <a:srgbClr val="222233"/>
                </a:solidFill>
              </a:rPr>
              <a:t>  SwiftUI to Compose: clean mapping, same mental model</a:t>
            </a:r>
          </a:p>
          <a:p>
            <a:pPr>
              <a:spcBef>
                <a:spcPts val="2000"/>
              </a:spcBef>
            </a:pPr>
            <a:r>
              <a:rPr sz="2000">
                <a:solidFill>
                  <a:srgbClr val="222233"/>
                </a:solidFill>
              </a:rPr>
              <a:t>  Architecture (MVVM + StateFlow) applied correctly</a:t>
            </a:r>
          </a:p>
          <a:p>
            <a:pPr>
              <a:spcBef>
                <a:spcPts val="2000"/>
              </a:spcBef>
            </a:pPr>
            <a:r>
              <a:rPr sz="2000">
                <a:solidFill>
                  <a:srgbClr val="222233"/>
                </a:solidFill>
              </a:rPr>
              <a:t>  Build errors fixed quickly by re-prompting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007608" y="1170432"/>
            <a:ext cx="5861304" cy="548640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07608" y="1170432"/>
            <a:ext cx="5861304" cy="530352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63056" y="1207008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What Needed Human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63056" y="1810512"/>
            <a:ext cx="5577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</a:pPr>
            <a:r>
              <a:rPr sz="2000">
                <a:solidFill>
                  <a:srgbClr val="222233"/>
                </a:solidFill>
              </a:rPr>
              <a:t>  Wrong API URL  (paid vs. free endpoint)</a:t>
            </a:r>
          </a:p>
          <a:p>
            <a:pPr>
              <a:spcBef>
                <a:spcPts val="2000"/>
              </a:spcBef>
            </a:pPr>
            <a:r>
              <a:rPr sz="2000">
                <a:solidFill>
                  <a:srgbClr val="222233"/>
                </a:solidFill>
              </a:rPr>
              <a:t>  Gitignore accidentally excluded version catalog</a:t>
            </a:r>
          </a:p>
          <a:p>
            <a:pPr>
              <a:spcBef>
                <a:spcPts val="2000"/>
              </a:spcBef>
            </a:pPr>
            <a:r>
              <a:rPr sz="2000">
                <a:solidFill>
                  <a:srgbClr val="222233"/>
                </a:solidFill>
              </a:rPr>
              <a:t>  WeatherKit is Apple-only -- had to redirect AI</a:t>
            </a:r>
          </a:p>
          <a:p>
            <a:pPr>
              <a:spcBef>
                <a:spcPts val="2000"/>
              </a:spcBef>
            </a:pPr>
            <a:r>
              <a:rPr sz="2000">
                <a:solidFill>
                  <a:srgbClr val="222233"/>
                </a:solidFill>
              </a:rPr>
              <a:t>  API key &amp; SDK path always set up manually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Key 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70432"/>
            <a:ext cx="5669280" cy="19202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82880" cy="1920240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2801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C3557"/>
                </a:solidFill>
              </a:rPr>
              <a:t>WeatherKit not on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00784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93322"/>
                </a:solidFill>
              </a:rPr>
              <a:t>Apple-exclusive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9456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2233"/>
                </a:solidFill>
              </a:rPr>
              <a:t>Used OpenWeatherMap REST API instead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6382512" y="1170432"/>
            <a:ext cx="5669280" cy="19202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82512" y="1170432"/>
            <a:ext cx="182880" cy="19202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12801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C3557"/>
                </a:solidFill>
              </a:rPr>
              <a:t>Sidebar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700784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93322"/>
                </a:solidFill>
              </a:rPr>
              <a:t>No native drawer equivalent on Android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19456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2233"/>
                </a:solidFill>
              </a:rPr>
              <a:t>Left sidebar --&gt; search dialog   /   Right --&gt; BottomSheet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200400"/>
            <a:ext cx="5669280" cy="19202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" y="3200400"/>
            <a:ext cx="182880" cy="19202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331012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C3557"/>
                </a:solidFill>
              </a:rPr>
              <a:t>Missing Version Catalog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73075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93322"/>
                </a:solidFill>
              </a:rPr>
              <a:t>gradle/ was gitignored -- build broken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224528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2233"/>
                </a:solidFill>
              </a:rPr>
              <a:t>Fixed .gitignore, recreated libs.versions.toml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82512" y="3200400"/>
            <a:ext cx="5669280" cy="19202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82512" y="3200400"/>
            <a:ext cx="182880" cy="192024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331012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C3557"/>
                </a:solidFill>
              </a:rPr>
              <a:t>State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73075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93322"/>
                </a:solidFill>
              </a:rPr>
              <a:t>No @EnvironmentObject in Compose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224528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2233"/>
                </a:solidFill>
              </a:rPr>
              <a:t>ViewModel + StateFlow + collectAsState()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E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Token Usage  --  Across All Sessions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11556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999AA"/>
                </a:solidFill>
              </a:rPr>
              <a:t>Real data from 4 Claude Code sessions  |  Measured from session logs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572768"/>
            <a:ext cx="5029200" cy="30175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664208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10,022,333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834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5FF"/>
                </a:solidFill>
              </a:rPr>
              <a:t>Total Tokens Processed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27355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AACCFF"/>
                </a:solidFill>
              </a:rPr>
              <a:t>(including cache)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1572768"/>
            <a:ext cx="3246120" cy="1298448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77840" y="1682496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A8FFC8"/>
                </a:solidFill>
              </a:rPr>
              <a:t>9,094,592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377440"/>
            <a:ext cx="3246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Cache Read Tokens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25128" y="1572768"/>
            <a:ext cx="3246120" cy="1298448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25128" y="1682496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DBBFF"/>
                </a:solidFill>
              </a:rPr>
              <a:t>584,219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25128" y="2377440"/>
            <a:ext cx="3246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Cache Write Tokens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3017520"/>
            <a:ext cx="3246120" cy="1298448"/>
          </a:xfrm>
          <a:prstGeom prst="rect">
            <a:avLst/>
          </a:prstGeom>
          <a:solidFill>
            <a:srgbClr val="B84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77840" y="3127248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CC88"/>
                </a:solidFill>
              </a:rPr>
              <a:t>343,087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3822192"/>
            <a:ext cx="3246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Output Tokens
(Claude responses)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25128" y="3017520"/>
            <a:ext cx="3246120" cy="1298448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25128" y="3127248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AACCFF"/>
                </a:solidFill>
              </a:rPr>
              <a:t>435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5128" y="3822192"/>
            <a:ext cx="3246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Fresh Input Tokens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Results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1170432"/>
            <a:ext cx="2103120" cy="155448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1216152"/>
            <a:ext cx="21031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4A90E2"/>
                </a:solidFill>
              </a:rPr>
              <a:t>10+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993392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Swift files
analysed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615184" y="1170432"/>
            <a:ext cx="2103120" cy="155448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15184" y="1216152"/>
            <a:ext cx="21031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4A90E2"/>
                </a:solidFill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15184" y="1993392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Kotlin files
created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82896" y="1170432"/>
            <a:ext cx="2103120" cy="155448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82896" y="1216152"/>
            <a:ext cx="21031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4A90E2"/>
                </a:solidFill>
              </a:rPr>
              <a:t>~95%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82896" y="1993392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Feature parity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50608" y="1170432"/>
            <a:ext cx="2103120" cy="155448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50608" y="1216152"/>
            <a:ext cx="21031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4A90E2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1993392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AI tools
used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0" y="1170432"/>
            <a:ext cx="2103120" cy="155448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0" y="1216152"/>
            <a:ext cx="21031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4A90E2"/>
                </a:solidFill>
              </a:rPr>
              <a:t>&lt;1 week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1993392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Migration 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907792"/>
            <a:ext cx="5669280" cy="37033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2907792"/>
            <a:ext cx="5669280" cy="50292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2935224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What We Learned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502152"/>
            <a:ext cx="539496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sz="2000">
                <a:solidFill>
                  <a:srgbClr val="222233"/>
                </a:solidFill>
              </a:rPr>
              <a:t>  AI excels at translating between similar frameworks</a:t>
            </a:r>
          </a:p>
          <a:p>
            <a:pPr>
              <a:spcBef>
                <a:spcPts val="1800"/>
              </a:spcBef>
            </a:pPr>
            <a:r>
              <a:rPr sz="2000">
                <a:solidFill>
                  <a:srgbClr val="222233"/>
                </a:solidFill>
              </a:rPr>
              <a:t>  Iterative prompting beats one-shot generation</a:t>
            </a:r>
          </a:p>
          <a:p>
            <a:pPr>
              <a:spcBef>
                <a:spcPts val="1800"/>
              </a:spcBef>
            </a:pPr>
            <a:r>
              <a:rPr sz="2000">
                <a:solidFill>
                  <a:srgbClr val="222233"/>
                </a:solidFill>
              </a:rPr>
              <a:t>  Human oversight is still essential for config &amp; APIs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81928" y="2907792"/>
            <a:ext cx="5669280" cy="37033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81928" y="2907792"/>
            <a:ext cx="5669280" cy="502920"/>
          </a:xfrm>
          <a:prstGeom prst="rect">
            <a:avLst/>
          </a:prstGeom>
          <a:solidFill>
            <a:srgbClr val="14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81928" y="2935224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Verdict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3502152"/>
            <a:ext cx="539496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sz="2000">
                <a:solidFill>
                  <a:srgbClr val="222233"/>
                </a:solidFill>
              </a:rPr>
              <a:t>  AI made this migration feasible in under a week</a:t>
            </a:r>
          </a:p>
          <a:p>
            <a:pPr>
              <a:spcBef>
                <a:spcPts val="1800"/>
              </a:spcBef>
            </a:pPr>
            <a:r>
              <a:rPr sz="2000">
                <a:solidFill>
                  <a:srgbClr val="222233"/>
                </a:solidFill>
              </a:rPr>
              <a:t>  Claude produced clean, idiomatic Kotlin</a:t>
            </a:r>
          </a:p>
          <a:p>
            <a:pPr>
              <a:spcBef>
                <a:spcPts val="1800"/>
              </a:spcBef>
            </a:pPr>
            <a:r>
              <a:rPr sz="2000">
                <a:solidFill>
                  <a:srgbClr val="222233"/>
                </a:solidFill>
              </a:rPr>
              <a:t>  Workflow: AI drafts  --  Human reviews  --  AI fixes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109728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4300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</a:rPr>
              <a:t>C/F Toggle Bug  —  Analysis &amp; Fix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70432"/>
            <a:ext cx="5669280" cy="19202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182880" cy="1920240"/>
          </a:xfrm>
          <a:prstGeom prst="rect">
            <a:avLst/>
          </a:prstGeom>
          <a:solidFill>
            <a:srgbClr val="E8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280160"/>
            <a:ext cx="53035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1C3557"/>
                </a:solidFill>
              </a:rPr>
              <a:t>Root 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00784"/>
            <a:ext cx="5303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993322"/>
                </a:solidFill>
              </a:rPr>
              <a:t>isCelsius: a dead parameter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94560"/>
            <a:ext cx="530352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22233"/>
                </a:solidFill>
              </a:rPr>
              <a:t>Passed to every child Composable (TopWeatherSection, HourlyForecastItem, DailyForecastRow, IndicatorsGrid) but never read in any body -- only viewModel.formatTemp() is called, which reads _isCelsius.value directly from a StateFlow.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82512" y="1170432"/>
            <a:ext cx="5669280" cy="19202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82512" y="1170432"/>
            <a:ext cx="182880" cy="19202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1280160"/>
            <a:ext cx="53035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1C3557"/>
                </a:solidFill>
              </a:rPr>
              <a:t>Why It Breaks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700784"/>
            <a:ext cx="5303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993322"/>
                </a:solidFill>
              </a:rPr>
              <a:t>Compose cannot track the StateFlow 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194560"/>
            <a:ext cx="530352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22233"/>
                </a:solidFill>
              </a:rPr>
              <a:t>Compose only re-renders when a State&lt;T&gt; value changes inside a composable body. Reading _isCelsius.value inside a plain Kotlin function is invisible to Compose -- so LazyRow items may silently skip recomposition.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200400"/>
            <a:ext cx="5669280" cy="19202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" y="3200400"/>
            <a:ext cx="182880" cy="19202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3310128"/>
            <a:ext cx="53035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1C3557"/>
                </a:solidFill>
              </a:rPr>
              <a:t>Fix Applied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730752"/>
            <a:ext cx="5303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993322"/>
                </a:solidFill>
              </a:rPr>
              <a:t>Pure functions with explicit isCelsius param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224528"/>
            <a:ext cx="530352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22233"/>
                </a:solidFill>
              </a:rPr>
              <a:t>convertTemp(celsius, isCelsius) and formatTemp(celsius, isCelsius) now take isCelsius as an explicit argument. All 4 child Composables actually read the parameter -- Compose tracks it and recomposes correctly on toggle.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82512" y="3200400"/>
            <a:ext cx="5669280" cy="19202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82512" y="3200400"/>
            <a:ext cx="182880" cy="192024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3310128"/>
            <a:ext cx="53035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1C3557"/>
                </a:solidFill>
              </a:rPr>
              <a:t>Bonus Fix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730752"/>
            <a:ext cx="5303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993322"/>
                </a:solidFill>
              </a:rPr>
              <a:t>Unit label added to temperature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224528"/>
            <a:ext cx="530352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22233"/>
                </a:solidFill>
              </a:rPr>
              <a:t>formatTemp() previously returned "22°" with no C or F suffix, making it impossible to confirm which unit was active. Now returns "22°C" or "72°F" so the toggle is visually verifiable.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074920"/>
            <a:ext cx="12188952" cy="128016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202936"/>
            <a:ext cx="12188952" cy="1655064"/>
          </a:xfrm>
          <a:prstGeom prst="rect">
            <a:avLst/>
          </a:prstGeom>
          <a:solidFill>
            <a:srgbClr val="14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50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4A90E2"/>
                </a:solidFill>
              </a:rPr>
              <a:t>Questions?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3310128"/>
            <a:ext cx="6702552" cy="381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 i="0">
                <a:solidFill>
                  <a:srgbClr val="FFFFFF"/>
                </a:solidFill>
              </a:rPr>
              <a:t>Dorian Toth  &amp;  Marvin Aichinger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0C8E8"/>
                </a:solidFill>
              </a:rPr>
              <a:t>KI-assisted Software Engineering  |  BB-G1  |  FH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816</Words>
  <Application>Microsoft Office PowerPoint</Application>
  <PresentationFormat>Benutzerdefiniert</PresentationFormat>
  <Paragraphs>163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Aichinger Marvin</cp:lastModifiedBy>
  <cp:revision>3</cp:revision>
  <dcterms:created xsi:type="dcterms:W3CDTF">2013-01-27T09:14:16Z</dcterms:created>
  <dcterms:modified xsi:type="dcterms:W3CDTF">2026-06-19T21:17:17Z</dcterms:modified>
  <cp:category/>
</cp:coreProperties>
</file>