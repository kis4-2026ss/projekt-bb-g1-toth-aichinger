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7" r:id="rId13"/>
    <p:sldId id="268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120640"/>
            <a:ext cx="12188952" cy="1280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248656"/>
            <a:ext cx="12188952" cy="1609344"/>
          </a:xfrm>
          <a:prstGeom prst="rect">
            <a:avLst/>
          </a:prstGeom>
          <a:solidFill>
            <a:srgbClr val="14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828800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0" y="804672"/>
            <a:ext cx="9144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WeatheryApp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84708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4A90E2"/>
                </a:solidFill>
              </a:rPr>
              <a:t>Swift iOS  --&gt;  Android Kotlin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2578608"/>
            <a:ext cx="9144000" cy="3810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51760" y="2743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8E8"/>
                </a:solidFill>
              </a:rPr>
              <a:t>Dorian Toth  &amp;  Marvin Aichinger   |   BB-G1   | 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80160"/>
            <a:ext cx="3566160" cy="50292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iOS Source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WeatheryApp -- Swift + SwiftUI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CoreLocation  &amp;  WeatherKit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Sidebar navigation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87368" y="1280160"/>
            <a:ext cx="3566160" cy="50292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24528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87368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E86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24528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Claude Code  (main driver)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GitHub Copilot  (in-editor)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ChatGPT  (research)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54696" y="1280160"/>
            <a:ext cx="3566160" cy="50292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91856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Android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91856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Kotlin + Jetpack Compose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MVVM + StateFlow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OpenWeatherMap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Original iOS App  --  WeatheryApp (Swift)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394960" cy="5486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C3557"/>
                </a:solidFill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381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Current weather via GPS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Hourly &amp; 5-day forecast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Saved locations sidebar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City search  +  oC / oF toggle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170432"/>
            <a:ext cx="5989320" cy="5486400"/>
          </a:xfrm>
          <a:prstGeom prst="rect">
            <a:avLst/>
          </a:prstGeom>
          <a:solidFill>
            <a:srgbClr val="E8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80760" y="1298448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7AFF"/>
                </a:solidFill>
              </a:rPr>
              <a:t>Tech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783080"/>
            <a:ext cx="5486400" cy="381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80760" y="1920240"/>
            <a:ext cx="5577840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 dirty="0">
                <a:solidFill>
                  <a:srgbClr val="222233"/>
                </a:solidFill>
              </a:rPr>
              <a:t>  Swift 5  +  </a:t>
            </a:r>
            <a:r>
              <a:rPr sz="2200" dirty="0" err="1">
                <a:solidFill>
                  <a:srgbClr val="222233"/>
                </a:solidFill>
              </a:rPr>
              <a:t>SwiftUI</a:t>
            </a:r>
            <a:endParaRPr sz="2200" dirty="0">
              <a:solidFill>
                <a:srgbClr val="222233"/>
              </a:solidFill>
            </a:endParaRPr>
          </a:p>
          <a:p>
            <a:pPr>
              <a:spcBef>
                <a:spcPts val="1800"/>
              </a:spcBef>
            </a:pPr>
            <a:r>
              <a:rPr lang="de-DE" sz="2200" dirty="0">
                <a:solidFill>
                  <a:srgbClr val="222233"/>
                </a:solidFill>
              </a:rPr>
              <a:t>  </a:t>
            </a:r>
            <a:r>
              <a:rPr sz="2200" dirty="0" err="1">
                <a:solidFill>
                  <a:srgbClr val="222233"/>
                </a:solidFill>
              </a:rPr>
              <a:t>CoreLocation</a:t>
            </a:r>
            <a:endParaRPr sz="2200" dirty="0">
              <a:solidFill>
                <a:srgbClr val="222233"/>
              </a:solidFill>
            </a:endParaRPr>
          </a:p>
          <a:p>
            <a:pPr>
              <a:spcBef>
                <a:spcPts val="1800"/>
              </a:spcBef>
            </a:pPr>
            <a:r>
              <a:rPr sz="2200" dirty="0">
                <a:solidFill>
                  <a:srgbClr val="222233"/>
                </a:solidFill>
              </a:rPr>
              <a:t>  @State / @StateObject / @ObservedObject</a:t>
            </a:r>
          </a:p>
          <a:p>
            <a:pPr>
              <a:spcBef>
                <a:spcPts val="1800"/>
              </a:spcBef>
            </a:pPr>
            <a:r>
              <a:rPr sz="2200" dirty="0">
                <a:solidFill>
                  <a:srgbClr val="222233"/>
                </a:solidFill>
              </a:rPr>
              <a:t>  </a:t>
            </a:r>
            <a:r>
              <a:rPr sz="2200" dirty="0" err="1">
                <a:solidFill>
                  <a:srgbClr val="222233"/>
                </a:solidFill>
              </a:rPr>
              <a:t>UserDefault</a:t>
            </a:r>
            <a:r>
              <a:rPr lang="de-DE" sz="2200" dirty="0">
                <a:solidFill>
                  <a:srgbClr val="222233"/>
                </a:solidFill>
              </a:rPr>
              <a:t>s</a:t>
            </a:r>
            <a:endParaRPr sz="2200" dirty="0">
              <a:solidFill>
                <a:srgbClr val="222233"/>
              </a:solidFill>
            </a:endParaRPr>
          </a:p>
        </p:txBody>
      </p:sp>
      <p:pic>
        <p:nvPicPr>
          <p:cNvPr id="12" name="Picture 11" descr="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170432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iOS App -- Screenshots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7DE38153-B0DC-6F24-C0FE-743E9E003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6732" y="1298448"/>
            <a:ext cx="2390342" cy="518651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0C87A805-9B9F-EE10-E42B-1A3B881B2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1750" y="1298448"/>
            <a:ext cx="2390343" cy="518651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AI-Assisted Migration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18105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Analyse
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Read Swift files
map 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79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1488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157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157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Map Swift to Kotlin
spot gaps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53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062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731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731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Data
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Models + Retrofit
WeatherKit --&gt; OWM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827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636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8305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05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UI
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SwiftUI --&gt; Compose
Sidebar --&gt; Sheet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401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321040" y="1417320"/>
            <a:ext cx="1719072" cy="3291840"/>
          </a:xfrm>
          <a:prstGeom prst="rect">
            <a:avLst/>
          </a:prstGeom>
          <a:solidFill>
            <a:srgbClr val="FFF3E0"/>
          </a:solidFill>
          <a:ln w="31750">
            <a:solidFill>
              <a:srgbClr val="E86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887968" y="1563624"/>
            <a:ext cx="585216" cy="585216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879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Human
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Validate &amp; test
on emulator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09453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9453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Iterate
&amp; Fix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15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Re-prompt Claude
until it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Created Android App  --  WeatheryApp (Kotlin)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394960" cy="5486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C3557"/>
                </a:solidFill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381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120640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 dirty="0">
                <a:solidFill>
                  <a:srgbClr val="222233"/>
                </a:solidFill>
              </a:rPr>
              <a:t>  Current weather via GPS</a:t>
            </a:r>
          </a:p>
          <a:p>
            <a:pPr>
              <a:spcBef>
                <a:spcPts val="1800"/>
              </a:spcBef>
            </a:pPr>
            <a:r>
              <a:rPr sz="2200" dirty="0">
                <a:solidFill>
                  <a:srgbClr val="222233"/>
                </a:solidFill>
              </a:rPr>
              <a:t>  Hourly &amp; 5-day forecast with icons</a:t>
            </a:r>
          </a:p>
          <a:p>
            <a:pPr>
              <a:spcBef>
                <a:spcPts val="1800"/>
              </a:spcBef>
            </a:pPr>
            <a:r>
              <a:rPr sz="2200" dirty="0">
                <a:solidFill>
                  <a:srgbClr val="222233"/>
                </a:solidFill>
              </a:rPr>
              <a:t>  City search  +  C</a:t>
            </a:r>
            <a:r>
              <a:rPr lang="de-AT" sz="2200" dirty="0">
                <a:solidFill>
                  <a:srgbClr val="222233"/>
                </a:solidFill>
              </a:rPr>
              <a:t>°</a:t>
            </a:r>
            <a:r>
              <a:rPr sz="2200" dirty="0">
                <a:solidFill>
                  <a:srgbClr val="222233"/>
                </a:solidFill>
              </a:rPr>
              <a:t> / F</a:t>
            </a:r>
            <a:r>
              <a:rPr lang="de-AT" sz="2200" dirty="0">
                <a:solidFill>
                  <a:srgbClr val="222233"/>
                </a:solidFill>
              </a:rPr>
              <a:t>°</a:t>
            </a:r>
            <a:r>
              <a:rPr sz="2200" dirty="0">
                <a:solidFill>
                  <a:srgbClr val="222233"/>
                </a:solidFill>
              </a:rPr>
              <a:t> toggle</a:t>
            </a:r>
          </a:p>
          <a:p>
            <a:pPr>
              <a:spcBef>
                <a:spcPts val="1800"/>
              </a:spcBef>
            </a:pPr>
            <a:r>
              <a:rPr sz="2200" dirty="0">
                <a:solidFill>
                  <a:srgbClr val="222233"/>
                </a:solidFill>
              </a:rPr>
              <a:t>  Material 3  --  light &amp; dark theme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170432"/>
            <a:ext cx="5989320" cy="548640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80760" y="1298448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DC84"/>
                </a:solidFill>
              </a:rPr>
              <a:t>Tech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783080"/>
            <a:ext cx="5486400" cy="381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80760" y="19202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Kotlin  +  Jetpack Compose  +  Material 3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Retrofit 2  +  FusedLocationProvider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ViewModel  +  StateFlow  +  DataStore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Kotlin Coroutines  (suspend fun)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B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5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Android App -- Screenshots</a:t>
            </a:r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F3F110DB-814B-12DC-4402-225E2CF98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3302" y="1298447"/>
            <a:ext cx="2351299" cy="528011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F0BCD8E-E568-3663-E4D5-B60C8C13C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490" y="1298448"/>
            <a:ext cx="2351299" cy="528011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Feature Comparison: iOS vs Android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15568"/>
            <a:ext cx="329184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4048" y="120700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115568"/>
            <a:ext cx="365760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21608" y="120700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115568"/>
            <a:ext cx="4096512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24928" y="120700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Android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1848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170992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Weather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61848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21608" y="170992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WeatherKit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161848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24928" y="170992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OpenWeatherMap 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2140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221284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GPS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212140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21608" y="221284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CoreLocation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2121408"/>
            <a:ext cx="4096512" cy="502920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24928" y="221284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FusedLocationProvider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62432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8" y="271576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Hourly forecast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11880" y="262432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21608" y="271576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Horizontal scroll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62432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24928" y="271576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LazyRow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12724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84048" y="321868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5-day forecast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312724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21608" y="321868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List view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3127248"/>
            <a:ext cx="4096512" cy="502920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24928" y="321868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Card list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63016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4048" y="372160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City search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1880" y="363016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721608" y="372160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222233"/>
                </a:solidFill>
              </a:rPr>
              <a:t>AddLocationView</a:t>
            </a:r>
            <a:endParaRPr sz="1600" b="0" i="0" dirty="0">
              <a:solidFill>
                <a:srgbClr val="222233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315200" y="363016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24928" y="372160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222233"/>
                </a:solidFill>
              </a:rPr>
              <a:t>AlertDialog</a:t>
            </a:r>
            <a:endParaRPr sz="1600" b="0" i="0" dirty="0">
              <a:solidFill>
                <a:srgbClr val="222233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4320" y="413308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4048" y="422452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Saved locations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11880" y="413308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721608" y="422452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Left sidebar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4133088"/>
            <a:ext cx="4096512" cy="50292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424928" y="422452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Not ported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63600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84048" y="472744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Settings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11880" y="463600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721608" y="472744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Right sidebar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463600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424928" y="472744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ModalBottomSheet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13892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84048" y="523036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Theme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11880" y="513892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721608" y="523036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Manual toggle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0" y="5138928"/>
            <a:ext cx="4096512" cy="502920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424928" y="523036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222233"/>
                </a:solidFill>
              </a:rPr>
              <a:t>System Dynamic Color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564184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84048" y="573328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Preferences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11880" y="564184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721608" y="573328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UserDefaults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564184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424928" y="573328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222233"/>
                </a:solidFill>
              </a:rPr>
              <a:t>DataStore</a:t>
            </a:r>
            <a:endParaRPr sz="1600" b="0" i="0" dirty="0">
              <a:solidFill>
                <a:srgbClr val="222233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Working with AI -- Our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486400" cy="548640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170432"/>
            <a:ext cx="5486400" cy="530352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2070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What Worked 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810512"/>
            <a:ext cx="5321808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</a:pPr>
            <a:r>
              <a:rPr sz="2000" dirty="0">
                <a:solidFill>
                  <a:srgbClr val="222233"/>
                </a:solidFill>
              </a:rPr>
              <a:t>  Swift to Kotlin translation</a:t>
            </a:r>
          </a:p>
          <a:p>
            <a:pPr>
              <a:spcBef>
                <a:spcPts val="2000"/>
              </a:spcBef>
            </a:pPr>
            <a:r>
              <a:rPr sz="2000" dirty="0">
                <a:solidFill>
                  <a:srgbClr val="222233"/>
                </a:solidFill>
              </a:rPr>
              <a:t>  </a:t>
            </a:r>
            <a:r>
              <a:rPr sz="2000" dirty="0" err="1">
                <a:solidFill>
                  <a:srgbClr val="222233"/>
                </a:solidFill>
              </a:rPr>
              <a:t>SwiftUI</a:t>
            </a:r>
            <a:r>
              <a:rPr sz="2000" dirty="0">
                <a:solidFill>
                  <a:srgbClr val="222233"/>
                </a:solidFill>
              </a:rPr>
              <a:t> to Compose: clean mapping, same mental model</a:t>
            </a:r>
          </a:p>
          <a:p>
            <a:pPr>
              <a:spcBef>
                <a:spcPts val="2000"/>
              </a:spcBef>
            </a:pPr>
            <a:r>
              <a:rPr sz="2000" dirty="0">
                <a:solidFill>
                  <a:srgbClr val="222233"/>
                </a:solidFill>
              </a:rPr>
              <a:t>  Architecture (MVVM + </a:t>
            </a:r>
            <a:r>
              <a:rPr sz="2000" dirty="0" err="1">
                <a:solidFill>
                  <a:srgbClr val="222233"/>
                </a:solidFill>
              </a:rPr>
              <a:t>StateFlow</a:t>
            </a:r>
            <a:r>
              <a:rPr sz="2000" dirty="0">
                <a:solidFill>
                  <a:srgbClr val="222233"/>
                </a:solidFill>
              </a:rPr>
              <a:t>) </a:t>
            </a:r>
            <a:r>
              <a:rPr sz="2000" dirty="0" err="1">
                <a:solidFill>
                  <a:srgbClr val="222233"/>
                </a:solidFill>
              </a:rPr>
              <a:t>applie</a:t>
            </a:r>
            <a:r>
              <a:rPr lang="de-DE" sz="2000" dirty="0">
                <a:solidFill>
                  <a:srgbClr val="222233"/>
                </a:solidFill>
              </a:rPr>
              <a:t>d  </a:t>
            </a:r>
            <a:r>
              <a:rPr sz="2000" dirty="0">
                <a:solidFill>
                  <a:srgbClr val="222233"/>
                </a:solidFill>
              </a:rPr>
              <a:t>correctly</a:t>
            </a:r>
          </a:p>
          <a:p>
            <a:pPr>
              <a:spcBef>
                <a:spcPts val="2000"/>
              </a:spcBef>
            </a:pPr>
            <a:r>
              <a:rPr sz="2000" dirty="0">
                <a:solidFill>
                  <a:srgbClr val="222233"/>
                </a:solidFill>
              </a:rPr>
              <a:t>errors fixed quickly by re-prompting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07608" y="1170432"/>
            <a:ext cx="5861304" cy="5486400"/>
          </a:xfrm>
          <a:prstGeom prst="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07608" y="1170432"/>
            <a:ext cx="5861304" cy="530352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63056" y="120700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What Needed Human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3056" y="1810512"/>
            <a:ext cx="5577840" cy="3221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</a:pPr>
            <a:r>
              <a:rPr sz="2000" dirty="0">
                <a:solidFill>
                  <a:srgbClr val="222233"/>
                </a:solidFill>
              </a:rPr>
              <a:t>  Wrong API</a:t>
            </a:r>
          </a:p>
          <a:p>
            <a:pPr>
              <a:spcBef>
                <a:spcPts val="2000"/>
              </a:spcBef>
            </a:pPr>
            <a:r>
              <a:rPr sz="2000" dirty="0">
                <a:solidFill>
                  <a:srgbClr val="222233"/>
                </a:solidFill>
              </a:rPr>
              <a:t>  </a:t>
            </a:r>
            <a:r>
              <a:rPr sz="2000" dirty="0" err="1">
                <a:solidFill>
                  <a:srgbClr val="222233"/>
                </a:solidFill>
              </a:rPr>
              <a:t>WeatherKit</a:t>
            </a:r>
            <a:r>
              <a:rPr sz="2000" dirty="0">
                <a:solidFill>
                  <a:srgbClr val="222233"/>
                </a:solidFill>
              </a:rPr>
              <a:t> is Apple-only -- had to redirect AI</a:t>
            </a:r>
          </a:p>
          <a:p>
            <a:pPr>
              <a:spcBef>
                <a:spcPts val="2000"/>
              </a:spcBef>
            </a:pPr>
            <a:r>
              <a:rPr sz="2000" dirty="0">
                <a:solidFill>
                  <a:srgbClr val="222233"/>
                </a:solidFill>
              </a:rPr>
              <a:t>  API key &amp; SDK path always set up manually</a:t>
            </a:r>
            <a:endParaRPr lang="de-DE" sz="2000" dirty="0">
              <a:solidFill>
                <a:srgbClr val="222233"/>
              </a:solidFill>
            </a:endParaRPr>
          </a:p>
          <a:p>
            <a:pPr>
              <a:spcBef>
                <a:spcPts val="2000"/>
              </a:spcBef>
            </a:pPr>
            <a:r>
              <a:rPr lang="de-DE" sz="2000" dirty="0">
                <a:solidFill>
                  <a:srgbClr val="222233"/>
                </a:solidFill>
              </a:rPr>
              <a:t> </a:t>
            </a:r>
            <a:r>
              <a:rPr lang="de-DE" sz="2000" dirty="0" err="1">
                <a:solidFill>
                  <a:srgbClr val="222233"/>
                </a:solidFill>
              </a:rPr>
              <a:t>Calculation</a:t>
            </a:r>
            <a:r>
              <a:rPr lang="de-DE" sz="2000" dirty="0">
                <a:solidFill>
                  <a:srgbClr val="222233"/>
                </a:solidFill>
              </a:rPr>
              <a:t> </a:t>
            </a:r>
            <a:r>
              <a:rPr lang="de-DE" sz="2000" dirty="0" err="1">
                <a:solidFill>
                  <a:srgbClr val="222233"/>
                </a:solidFill>
              </a:rPr>
              <a:t>of</a:t>
            </a:r>
            <a:r>
              <a:rPr lang="de-DE" sz="2000" dirty="0">
                <a:solidFill>
                  <a:srgbClr val="222233"/>
                </a:solidFill>
              </a:rPr>
              <a:t> C/F and </a:t>
            </a:r>
            <a:r>
              <a:rPr lang="de-DE" sz="2000" dirty="0" err="1">
                <a:solidFill>
                  <a:srgbClr val="222233"/>
                </a:solidFill>
              </a:rPr>
              <a:t>rerendering</a:t>
            </a:r>
            <a:r>
              <a:rPr lang="de-DE" sz="2000" dirty="0">
                <a:solidFill>
                  <a:srgbClr val="222233"/>
                </a:solidFill>
              </a:rPr>
              <a:t> UI</a:t>
            </a:r>
          </a:p>
          <a:p>
            <a:pPr>
              <a:spcBef>
                <a:spcPts val="2000"/>
              </a:spcBef>
            </a:pPr>
            <a:r>
              <a:rPr lang="de-DE" sz="2000" dirty="0">
                <a:solidFill>
                  <a:srgbClr val="222233"/>
                </a:solidFill>
              </a:rPr>
              <a:t> (</a:t>
            </a:r>
            <a:r>
              <a:rPr lang="de-DE" sz="2000" dirty="0" err="1">
                <a:solidFill>
                  <a:srgbClr val="222233"/>
                </a:solidFill>
              </a:rPr>
              <a:t>generation</a:t>
            </a:r>
            <a:r>
              <a:rPr lang="de-DE" sz="2000" dirty="0">
                <a:solidFill>
                  <a:srgbClr val="222233"/>
                </a:solidFill>
              </a:rPr>
              <a:t> </a:t>
            </a:r>
            <a:r>
              <a:rPr lang="de-DE" sz="2000" dirty="0" err="1">
                <a:solidFill>
                  <a:srgbClr val="222233"/>
                </a:solidFill>
              </a:rPr>
              <a:t>of</a:t>
            </a:r>
            <a:r>
              <a:rPr lang="de-DE" sz="2000" dirty="0">
                <a:solidFill>
                  <a:srgbClr val="222233"/>
                </a:solidFill>
              </a:rPr>
              <a:t> </a:t>
            </a:r>
            <a:r>
              <a:rPr lang="de-DE" sz="2000" dirty="0" err="1">
                <a:solidFill>
                  <a:srgbClr val="222233"/>
                </a:solidFill>
              </a:rPr>
              <a:t>things</a:t>
            </a:r>
            <a:r>
              <a:rPr lang="de-DE" sz="2000" dirty="0">
                <a:solidFill>
                  <a:srgbClr val="222233"/>
                </a:solidFill>
              </a:rPr>
              <a:t> </a:t>
            </a:r>
            <a:r>
              <a:rPr lang="de-DE" sz="2000" dirty="0" err="1">
                <a:solidFill>
                  <a:srgbClr val="222233"/>
                </a:solidFill>
              </a:rPr>
              <a:t>that</a:t>
            </a:r>
            <a:r>
              <a:rPr lang="de-DE" sz="2000" dirty="0">
                <a:solidFill>
                  <a:srgbClr val="222233"/>
                </a:solidFill>
              </a:rPr>
              <a:t> </a:t>
            </a:r>
            <a:r>
              <a:rPr lang="de-DE" sz="2000" dirty="0" err="1">
                <a:solidFill>
                  <a:srgbClr val="222233"/>
                </a:solidFill>
              </a:rPr>
              <a:t>are</a:t>
            </a:r>
            <a:r>
              <a:rPr lang="de-DE" sz="2000" dirty="0">
                <a:solidFill>
                  <a:srgbClr val="222233"/>
                </a:solidFill>
              </a:rPr>
              <a:t> </a:t>
            </a:r>
            <a:r>
              <a:rPr lang="de-DE" sz="2000" dirty="0" err="1">
                <a:solidFill>
                  <a:srgbClr val="222233"/>
                </a:solidFill>
              </a:rPr>
              <a:t>never</a:t>
            </a:r>
            <a:r>
              <a:rPr lang="de-DE" sz="2000" dirty="0">
                <a:solidFill>
                  <a:srgbClr val="222233"/>
                </a:solidFill>
              </a:rPr>
              <a:t> </a:t>
            </a:r>
            <a:r>
              <a:rPr lang="de-DE" sz="2000" dirty="0" err="1">
                <a:solidFill>
                  <a:srgbClr val="222233"/>
                </a:solidFill>
              </a:rPr>
              <a:t>used</a:t>
            </a:r>
            <a:r>
              <a:rPr lang="de-DE" sz="2000" dirty="0">
                <a:solidFill>
                  <a:srgbClr val="222233"/>
                </a:solidFill>
              </a:rPr>
              <a:t>)</a:t>
            </a:r>
          </a:p>
          <a:p>
            <a:pPr>
              <a:spcBef>
                <a:spcPts val="2000"/>
              </a:spcBef>
            </a:pPr>
            <a:r>
              <a:rPr lang="de-DE" sz="2000" dirty="0">
                <a:solidFill>
                  <a:srgbClr val="222233"/>
                </a:solidFill>
              </a:rPr>
              <a:t> (</a:t>
            </a:r>
            <a:r>
              <a:rPr lang="de-DE" sz="2000" dirty="0" err="1">
                <a:solidFill>
                  <a:srgbClr val="222233"/>
                </a:solidFill>
              </a:rPr>
              <a:t>supressing</a:t>
            </a:r>
            <a:r>
              <a:rPr lang="de-DE" sz="2000" dirty="0">
                <a:solidFill>
                  <a:srgbClr val="222233"/>
                </a:solidFill>
              </a:rPr>
              <a:t> </a:t>
            </a:r>
            <a:r>
              <a:rPr lang="de-DE" sz="2000" dirty="0" err="1">
                <a:solidFill>
                  <a:srgbClr val="222233"/>
                </a:solidFill>
              </a:rPr>
              <a:t>linter</a:t>
            </a:r>
            <a:r>
              <a:rPr lang="de-DE" sz="2000" dirty="0">
                <a:solidFill>
                  <a:srgbClr val="222233"/>
                </a:solidFill>
              </a:rPr>
              <a:t>)</a:t>
            </a:r>
            <a:endParaRPr sz="2000" dirty="0">
              <a:solidFill>
                <a:srgbClr val="222233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</a:rPr>
              <a:t>C/F Toggle Bug  —  Analysis &amp; Fix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170432"/>
            <a:ext cx="182880" cy="192024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5303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1C3557"/>
                </a:solidFill>
              </a:rPr>
              <a:t>Root Cause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993322"/>
                </a:solidFill>
              </a:rPr>
              <a:t>isCelsius: a dead parameter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222233"/>
                </a:solidFill>
              </a:rPr>
              <a:t>Passed to every child Composable (TopWeatherSection, HourlyForecastItem, DailyForecastRow, IndicatorsGrid) but never read in any body -- only viewModel.formatTemp() is called, which reads _isCelsius.value directly from a StateFlow.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82512" y="1170432"/>
            <a:ext cx="182880" cy="192024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5303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1C3557"/>
                </a:solidFill>
              </a:rPr>
              <a:t>Why It Breaks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00784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993322"/>
                </a:solidFill>
              </a:rPr>
              <a:t>Compose cannot track the StateFlow 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222233"/>
                </a:solidFill>
              </a:rPr>
              <a:t>Compose only re-renders when a State&lt;T&gt; value changes inside a composable body. Reading _isCelsius.value inside a plain Kotlin function is invisible to Compose -- so LazyRow items may silently skip recomposition.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320" y="3200400"/>
            <a:ext cx="182880" cy="1920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3310128"/>
            <a:ext cx="5303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1C3557"/>
                </a:solidFill>
              </a:rPr>
              <a:t>Fix Applied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30752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993322"/>
                </a:solidFill>
              </a:rPr>
              <a:t>Pure functions with explicit isCelsius param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24528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222233"/>
                </a:solidFill>
              </a:rPr>
              <a:t>convertTemp(celsius, isCelsius) and formatTemp(celsius, isCelsius) now take isCelsius as an explicit argument. All 4 child Composables actually read the parameter -- Compose tracks it and recomposes correctly on toggle.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82512" y="3200400"/>
            <a:ext cx="182880" cy="192024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3310128"/>
            <a:ext cx="53035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1C3557"/>
                </a:solidFill>
              </a:rPr>
              <a:t>Bonus Fix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30752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993322"/>
                </a:solidFill>
              </a:rPr>
              <a:t>Unit label added to temperature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24528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222233"/>
                </a:solidFill>
              </a:rPr>
              <a:t>formatTemp() previously returned "22°" with no C or F suffix, making it impossible to confirm which unit was active. Now returns "22°C" or "72°F" so the toggle is visually verifiable.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Key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170432"/>
            <a:ext cx="182880" cy="192024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WeatherKit not on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Apple-exclusive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Used OpenWeatherMap REST API instead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82512" y="1170432"/>
            <a:ext cx="182880" cy="192024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Sidebar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00784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No native drawer equivalent on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Left sidebar --&gt; search dialog   /   Right --&gt; BottomSheet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320" y="3200400"/>
            <a:ext cx="182880" cy="1920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33101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Missing Version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307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gradle/ was gitignored -- build broken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24528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Fixed .gitignore, recreated libs.versions.toml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82512" y="3200400"/>
            <a:ext cx="182880" cy="192024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33101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State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307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No @EnvironmentObject in 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24528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ViewModel + StateFlow + collectAsState()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Results &amp;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10+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Swift files
analysed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15184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5184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Kotlin files
created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82896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82896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~95%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2896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Feature parity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50608" y="1216152"/>
            <a:ext cx="21031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4000" b="1" dirty="0">
                <a:solidFill>
                  <a:srgbClr val="4A90E2"/>
                </a:solidFill>
              </a:rPr>
              <a:t>&gt;400k</a:t>
            </a:r>
            <a:endParaRPr sz="4000" b="1" i="0" dirty="0">
              <a:solidFill>
                <a:srgbClr val="4A90E2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150608" y="1993392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400" b="0" i="0" dirty="0" err="1">
                <a:solidFill>
                  <a:srgbClr val="FFFFFF"/>
                </a:solidFill>
              </a:rPr>
              <a:t>tokens</a:t>
            </a:r>
            <a:r>
              <a:rPr sz="1400" b="0" i="0" dirty="0">
                <a:solidFill>
                  <a:srgbClr val="FFFFFF"/>
                </a:solidFill>
              </a:rPr>
              <a:t>
used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18320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 dirty="0">
                <a:solidFill>
                  <a:srgbClr val="4A90E2"/>
                </a:solidFill>
              </a:rPr>
              <a:t>&lt;1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Migration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907792"/>
            <a:ext cx="5669280" cy="3703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2907792"/>
            <a:ext cx="566928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29352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What We Learned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02152"/>
            <a:ext cx="5394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000" dirty="0">
                <a:solidFill>
                  <a:srgbClr val="222233"/>
                </a:solidFill>
              </a:rPr>
              <a:t>  AI excels at translating between similar frameworks</a:t>
            </a:r>
          </a:p>
          <a:p>
            <a:pPr>
              <a:spcBef>
                <a:spcPts val="1800"/>
              </a:spcBef>
            </a:pPr>
            <a:r>
              <a:rPr sz="2000" dirty="0">
                <a:solidFill>
                  <a:srgbClr val="222233"/>
                </a:solidFill>
              </a:rPr>
              <a:t>  Iterative prompting beats one-shot generation</a:t>
            </a:r>
          </a:p>
          <a:p>
            <a:pPr>
              <a:spcBef>
                <a:spcPts val="1800"/>
              </a:spcBef>
            </a:pPr>
            <a:r>
              <a:rPr sz="2000" dirty="0">
                <a:solidFill>
                  <a:srgbClr val="222233"/>
                </a:solidFill>
              </a:rPr>
              <a:t>  Human oversight is still essential for config &amp; APIs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1928" y="2907792"/>
            <a:ext cx="5669280" cy="3703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81928" y="2907792"/>
            <a:ext cx="5669280" cy="502920"/>
          </a:xfrm>
          <a:prstGeom prst="rect">
            <a:avLst/>
          </a:prstGeom>
          <a:solidFill>
            <a:srgbClr val="14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1928" y="29352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Verdict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3502152"/>
            <a:ext cx="5394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AI made this migration feasible in under a week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Claude produced clean, idiomatic Kotlin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Workflow: AI drafts  --  Human reviews  --  AI fixes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074920"/>
            <a:ext cx="12188952" cy="1280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202936"/>
            <a:ext cx="12188952" cy="1655064"/>
          </a:xfrm>
          <a:prstGeom prst="rect">
            <a:avLst/>
          </a:prstGeom>
          <a:solidFill>
            <a:srgbClr val="14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50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4A90E2"/>
                </a:solidFill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310128"/>
            <a:ext cx="6702552" cy="3810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FFFFFF"/>
                </a:solidFill>
              </a:rPr>
              <a:t>Dorian Toth  &amp;  Marvin Aichinger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8E8"/>
                </a:solidFill>
              </a:rPr>
              <a:t>KI-assisted Software Engineering  |  BB-G1  |  FH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772</Words>
  <Application>Microsoft Office PowerPoint</Application>
  <PresentationFormat>Benutzerdefiniert</PresentationFormat>
  <Paragraphs>152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Aichinger Marvin</cp:lastModifiedBy>
  <cp:revision>8</cp:revision>
  <dcterms:created xsi:type="dcterms:W3CDTF">2013-01-27T09:14:16Z</dcterms:created>
  <dcterms:modified xsi:type="dcterms:W3CDTF">2026-06-20T12:31:53Z</dcterms:modified>
  <cp:category/>
</cp:coreProperties>
</file>